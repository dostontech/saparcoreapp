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par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48640"/>
            <a:ext cx="1554480" cy="1554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2C39A"/>
                </a:solidFill>
              </a:defRPr>
            </a:pPr>
            <a:r>
              <a:t>★ PRESIDENT TECH AWARD 2026 NOMZODI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Oʻzbekiston Biznesini Boyitish va Milliy Iqtisodiyotni Yuksaltirish Uchun Yagona Bulutli ERP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38BDF8"/>
                </a:solidFill>
              </a:defRPr>
            </a:pPr>
            <a:r>
              <a:t>Buxgalteriya (21-BHMS) • Soliq &amp; Didox • FIFO Ombor • Savdo &amp; TTN • Sensorli POS • HRM • Bank Skoringi • CRM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Buxgalteriya hisobi (21-BHMS), Soliq integratsiyasi, FIFO ombor, Savdo va TTN, Sensorli POS Kassa, HRM &amp; Ish haqi, Bank skoringi va CRM.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46888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100% Bulutli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Oʻrnatish talab etilmaydi, barcha brauzer va mobil qurilmalardan ishlaydi.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931920"/>
            <a:ext cx="246888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Bank Skoringi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Tadbirkorlarga 1 kunda garov taʼminotisiz aylanma mablagʻ kreditlari.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246888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E-IMZO &amp; Soliq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Didox, Factura.uz va Soliq qoʻmitasi bilan toʻliq avtomatlashtirilgan.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931920"/>
            <a:ext cx="246888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5x Hamyonbop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1C tizimiga nisbatan har bir biznesga $8,500+ mablagʻni tejash imkoniyati.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MAKROIQTISODIY MUAMMOLAR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Oʻzbekiston Biznesi va Milliy Iqtisodiyotning Asosiy Toʻsiqlari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$120M+ Valyutaning Xorijga Chiqishi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Oʻzbekiston korxonalari har yili xorijiy eskirgan dasturlarga (1C litsenziyalari, serverlar, qimmat maslahatchilar) millionlab dollar xorijiy valyuta sarflamoqda.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Bank Krediti Olishdagi Qiyinchiliklar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Kichik biznesning buxgalteriyasi va real aylanmasi shaffof koʻrinmagani sababli, banklar ularga tezkor va garovsiz aylanma mablagʻ kreditlarini bera olmaydi.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Tarqoq Dasturlar va Xufyona Iqtisodiyot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POS kassa alohida, ombor daftarda, fakturalar Didoxda, hisoblar bankda. Maʼlumotlar tarqoqligi korxonaning daromad yoʻqotishiga sabab boʻlmoqda.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MILLIY MISSIYA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Bizning Maqsadimiz: Bizneslarni Kuchli va Boy Qilish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+25% Sof Daromadni Oshirish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FIFO tannarxini aniq hisoblash, tovar kamomadini yoʻqotish va savdo quvuri orqali korxona sof rentabelligi 25% gacha oshadi.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5x Xarajatlarni Qisqartirish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Qimmat jismoniy serverlar, doimiy 1C dasturchilari va texnik xizmat koʻrsatish xarajatlari toʻliq tejaladi.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1 Kunda Bank Krediti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SAPAR dagi tasdiqlangan moliyaviy hisobotlar orqali banklar tadbirkorga 1 kunda garovsiz va qulay foizli aylanma mablagʻ kreditlarini ajratadi.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RAQOBAT TAHLILI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Nima Uchun SAPAR ERP Bozor Yechimlaridan Ustun?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31520">
                <a:tc>
                  <a:txBody>
                    <a:bodyPr/>
                    <a:lstStyle/>
                    <a:p>
                      <a:r>
                        <a:t>Xususiyat / Feature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🚀 SAPAR ERP</a:t>
                      </a:r>
                    </a:p>
                  </a:txBody>
                  <a:tcPr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🏛️ 1C:Enterprise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🛒 Poster POS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🌍 Odoo / Microsoft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100% Bulutli va Mobil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Oʻrnatish shart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Server va oʻrnatish shart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⚠️ Faqat POS qismi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Bulutli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21-BHMS &amp; 1/2-Shakl Balans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Nativ / Tayyor oʻrnatilgan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Mavjud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Mavjud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Maxsus sozlash talab etiladi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E-IMZO, Didox &amp; Soliq API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Toʻgʻridan-toʻgʻri integratsiya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⚠️ Qimmat qoʻshimcha modul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Mavjud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Mavjud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Bank Skoringi va Kredit API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Oʻrnatilgan moliyaviy skoring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Mavjud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Mavjud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❌ Mavjud emas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5 Yillik Xarajat (TCO)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💰 $1,200 – $1,800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💸 $9,700+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💰 $3,500+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💸 $20,000+</a:t>
                      </a:r>
                    </a:p>
                  </a:txBody>
                  <a:tcPr>
                    <a:solidFill>
                      <a:srgbClr val="0B2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XARAJATLAR TAHLILI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 Yillik Egalik Qilish Xarajati: 1C ga Nisbatan $8,500+ Tejash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🏛️ 1C:Enterprise (5 Yillik Xarajat)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Dastlabki litsenziyalar va konfiguratsiyalar: $1,200</a:t>
            </a:r>
            <a:br/>
            <a:r>
              <a:t>• Jismoniy server va UPS xaridi: $1,500</a:t>
            </a:r>
            <a:br/>
            <a:r>
              <a:t>• Oylik 1C mutaxassisi xizmati ($100/oy x 60 oy): $6,000</a:t>
            </a:r>
            <a:br/>
            <a:r>
              <a:t>• Yillik yangilanishlar va qonunchilik moslashuvi: $1,000</a:t>
            </a:r>
            <a:br/>
            <a:br/>
            <a:r>
              <a:t>JAMI 5 YILLIK XARAJAT: $9,700+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🚀 SAPAR Cloud ERP (5 Yillik Xarajat)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Server va bulut infratuzilmasi: $0 (Kiritilgan)</a:t>
            </a:r>
            <a:br/>
            <a:r>
              <a:t>• Dasturchi yollash va texnik xizmat: $0 (Avtomatik yangilanadi)</a:t>
            </a:r>
            <a:br/>
            <a:r>
              <a:t>• 5 Yillik toʻliq SaaS obuna paketi: $1,500</a:t>
            </a:r>
            <a:br/>
            <a:r>
              <a:t>• 24/7 Doimiy texnik qoʻllab-quvvatlash: Kiritilgan</a:t>
            </a:r>
            <a:br/>
            <a:br/>
            <a:r>
              <a:t>HAR BIR BIZNESGA SOF TEJAMKORLIK: +$8,200 TEJALDI!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BANKLAR BILAN HAMKORLIK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Bank Integratsiyasi va Tadbirkorlarga Tezkor Garovsiz Kredit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Moliyaviy Skoring Dvigateli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Hamkor banklar (Ipak Yoʻli, Kapitalbank, SQB, Agrobank) SAPAR dagi shaffof savdo aylanmasi asosida tadbirkorga 1 kunda kredit liniyalarini ajratadi.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1C:ClientBank Avto-Sinxronizatsiya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Oʻzbekistonning barcha banklaridan koʻchirmalar (vipiska) 1 soniyada yuklanadi va buxgalteriya schotlari bilan avtomatik solishtiriladi.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Payme, Click va Uzum Pay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Mijozlardan QR-kod orqali toʻlovlarni toʻgʻridan-toʻgʻri korxona hisob-raqamiga qabul qilish va darhol buxgalteriyada aks ettirish.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DIZAYN VA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Mavjud Mahsulotlarga Nisbatan 2-Bosqichli Tezkor Navigatsiya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Fokuslangan 2-Bosqichli Struktura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1-Bosqich (72px Rail): 13 ta asosiy boʻlimga 1 bosishda oʻtish.</a:t>
            </a:r>
            <a:br/>
            <a:r>
              <a:t>• 2-Bosqich (256px Panel): Tezkor qidiruv, + Yangi... tugmalari va filtrlar.</a:t>
            </a:r>
            <a:br/>
            <a:r>
              <a:t>• 1-Bosishda Mahkamlash (Pin): Katta moliyaviy jadvallar uchun 100% keng ekran.</a:t>
            </a:r>
            <a:br/>
            <a:r>
              <a:t>• Dual Sidebar Arxitekturasi: Sahifa qayta yuklanmasdan, darhol kerakli ish stoli ochiladi.</a:t>
            </a:r>
            <a:br/>
            <a:br/>
            <a:r>
              <a:t>Mavjud eskirgan mahsulotlarning 80+ menyudan iborat chalkash roʻyxatidan xalos boʻling.</a:t>
            </a:r>
          </a:p>
        </p:txBody>
      </p:sp>
      <p:pic>
        <p:nvPicPr>
          <p:cNvPr id="5" name="Picture 4" descr="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BUXGALTERIYA VA MOLIYA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21-son BHMS Milliy Buxgalteriya Standartlari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Schotlar Rejasi va Provodkalar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0100 dan 9900 gacha barcha milliy buxgalteriya schotlari tayyor kiritilgan. Har bir amaliyot avtomatik Bosh kitobga yoziladi.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1-Shakl, 2-Shakl va Oborotka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Buxgalteriya balansi (1-shakl), Moliyaviy natijalar (2-shakl / P&amp;L) va Aylanma vedomost (Oborotka) 1 soniyada avtomatik shakllanadi.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Vzaimozachet va Koʻp Valyutali Hisob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Korxonalar oʻrtasidagi oʻzaro qarzdorliklarni yopish (Contras), UZS, USD, EUR, RUB kurslari boʻyicha avtomatik qayta baholash.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SOLIQ VA RAQAMLI IMZO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E-IMZO, Didox va Soliq Qoʻmitasi Bilan Toʻliq Integratsiya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Nativ E-IMZO Imzolash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USB e-token yoki .pfx sertifikat orqali brauzerdan chiqmasdan toʻgʻridan-toʻgʻri PKCS#7 formatida hujjatlarni imzolash.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Didox va Factura.uz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Elektron fakturalarni 1 bosishda yuborish, statusini kuzatish va kiruvchi hujjatlarni avtomatik qabul qilish.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MXIK / IKPU Kodlari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Tovar va xizmatlar uchun milliy klassifikator kodlari va shtrix-kodlarni avtomatik toʻgʻri belgilash.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Soliq Deklaratsiyalari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QQS (Forma 10006_29), JShODS (11101_14) va Aylanmadan olinadigan soliq (10104_18) hisobotlari.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SAVDO ZANJIRI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Savdo Boshqaruvi, Hisob-Fakturalar va Yuk Xatlari (TTN)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Tijorat Takliflari (KP)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Mijozlarga rasmiy shartlar koʻrsatilgan taklifnomalarni yuborish va mijoz qabul qilgach, 1 bosishda toʻlov fakturasiga aylantirish.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Yuk Xatlari (TTN)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Tovarni ombordan mijozga joʻnatishda avtotransport vositasi va haydovchi maʼlumotlari qayd etiladigan milliy yuk xatlari.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Ommaviy Havolalar va QR-Kod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Mijozga Telegram orqali hisob-fakturaning onlayn havolasini yuborish va QR-kod orqali toʻlovlarni qabul qilish.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OMBOR VA TOVAR NAZORATI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Koʻp Omborli Boshqaruv va FIFO Tannarx Qatlamlari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FIFO Tannarx Hisobi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Dastlabki kirim partiyalari narxi boʻyicha tovar tannarxi va sof foydani aniq hisoblash.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Filiallar va Omborlar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Barcha filial va omborlardagi tovar qoldiqlarini real vaqt rejimida koʻrish.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Omborlararo Koʻchirish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Omborlar oʻrtasida tovarlarni xavfsiz va hujjatlashtirilgan holda oʻtkazish.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Inventarizatsiya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Ortiqcha tovar kirimi va kamomadni hisobdan chiqarish dalolatnomalari.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CHAKANA SAVDO VA 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Sensorli Touch POS Terminali va Smenalar Boshqaruvi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Kassa Operatsiyalari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Tezkor Sensorli Interfeys: Planshet va monitorlar uchun moslashtirilgan sub-soniyalik tezkor kassa oynasi.</a:t>
            </a:r>
            <a:br/>
            <a:r>
              <a:t>• Aralash (Split) Toʻlovlar: Naqd pul + Uzcard/Humo + Payme/Click + Nasiya (qarz) hisobiga boʻlib toʻlash.</a:t>
            </a:r>
            <a:br/>
            <a:r>
              <a:t>• Kassir Smenalari &amp; X/Z Hisobotlar: Smenani ochish, kassa naqd pulini nazorat qilish va kun yakunida avtomatik X/Z hisoboti.</a:t>
            </a:r>
            <a:br/>
            <a:r>
              <a:t>• Fiskal cheklar va offline ishlash imkoniyati.</a:t>
            </a:r>
          </a:p>
        </p:txBody>
      </p:sp>
      <p:pic>
        <p:nvPicPr>
          <p:cNvPr id="5" name="Picture 4" descr="pos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HRM VA XODIMLAR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Ish Vaqti Tabeli va Oʻzbekiston Oylik Ish Haqi Dvigateli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Ish Vaqti Tabeli (Tabel)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Xodimlarning keldi-ketdi soatlari, dam olish kunlari va taʼtillarini hisobga oluvchi qonuniy tabel.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12% + 12% + 0.1% Soliqlar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JShODS (12%), Ijtimoiy soliq (12% / IT Park 1%) va INPS (0.1%) pensiya badallari avtomatik hisoblanadi.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Taʼtillar va Kompensatsiyalar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Mehnat taʼtillari kunlari hisobi, kasallik varaqalari va kompensatsiya toʻlovlari.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CRM VA SAVDO OʻSISHI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Vizual Bitimlar Quvuri va 360° Mijoz Balansi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Mijozlar va Savdo Quvuri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Kanban Bitimlar Quvuri: Lidlar ➔ Birinchi aloqa ➔ Tijorat taklifi ➔ Shartnoma ➔ Toʻlov bosqichlarini vizual boshqaring.</a:t>
            </a:r>
            <a:br/>
            <a:r>
              <a:t>• 360° Mijoz Kartasi: Mijozning barcha hisob-fakturalari, oʻzaro qarzdorlik balansi va toʻlovlari yagona oynada.</a:t>
            </a:r>
            <a:br/>
            <a:r>
              <a:t>• Telegram &amp; WhatsApp Xabarlari: Mijozlarga hisob-faktura va toʻlov eslatmalarini avtomatik yuborish.</a:t>
            </a:r>
            <a:br/>
            <a:r>
              <a:t>• Mijozlar bilan ishlash tezligi 2 barobar oshadi.</a:t>
            </a:r>
          </a:p>
        </p:txBody>
      </p:sp>
      <p:pic>
        <p:nvPicPr>
          <p:cNvPr id="5" name="Picture 4" descr="crm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SUNʼIY INTELLEKT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SAPAR AI Co-Pilot — Aqlli Biznes Maslahatchisi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Cheklarni Tanib Olish (OCR)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Xarid cheklarini rasmga oling — AI uni avtomatik tovar kirimi va xarajatga aylantiradi.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Moliyaviy Bashorat va Maslahat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Kutilayotgan soliq toʻlovlari va pul tanqisligi (cash gap) boʻyicha rahbarga aqlli tavsiyalar.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Tabiiy Tilda Savol-Javob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"Bu oy sof foydamiz qancha boʻldi?" deb soʻrang — AI hisobotni darhol chiqaradi.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IQTISODIY SAMARA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Oʻzbekiston Iqtisodiyoti va Xalq Farovonligiga Milliy Taʼsiri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$120M+ Tejash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Import Oʻrnini Bosish: Xorijiy dasturlarga ketayotgan millionlab dollar valyutani mamlakatimizda saqlab qolish.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+35% Unumdorlik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50,000+ korxonada qogʻozbozlikni yoʻqotish va operatsion tezlikni oshirish.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100% Shaffoflik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Xufyona aylanmani qonuniylashtirish va davlat byudjetiga tushumlarni koʻpaytirish.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Markaziy Osiyo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Mahalliy korxonalarni mintaqa bozorlariga kengaytirish.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MOLIYAVIY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 Yillik Moliyaviy Reja va SaaS Unit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2026 (1-YIL): $750,000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2,500 Faol Korxona</a:t>
            </a:r>
            <a:br/>
            <a:r>
              <a:t>• Oylik daromad: $62,500</a:t>
            </a:r>
            <a:br/>
            <a:r>
              <a:t>• Sof Foyda Rentabelligi: 32%</a:t>
            </a:r>
            <a:br/>
            <a:r>
              <a:t>• CAC: $45 | LTV: $950+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2027 (2-YIL): $3,600,000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12,000 Faol Korxona</a:t>
            </a:r>
            <a:br/>
            <a:r>
              <a:t>• Oylik daromad: $300,000</a:t>
            </a:r>
            <a:br/>
            <a:r>
              <a:t>• Sof Foyda Rentabelligi: 48%</a:t>
            </a:r>
            <a:br/>
            <a:r>
              <a:t>• LTV / CAC nisbati: 21x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2028 (3-YIL): $15,000,000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50,000 Faol Korxona</a:t>
            </a:r>
            <a:br/>
            <a:r>
              <a:t>• Oylik daromad: $1,250,000</a:t>
            </a:r>
            <a:br/>
            <a:r>
              <a:t>• Sof Foyda Rentabelligi: 56%</a:t>
            </a:r>
            <a:br/>
            <a:r>
              <a:t>• Churn darajasi: &lt; 1.2% / oy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XAVFSIZLIK VA ARXITEKTURA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Bank Darajasidagi Xavfsizlik va OʻRQ-547 Standarti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PostgreSQL &amp; Prisma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Millionlab tranzaksiyalarga bardosh beruvchi relyatsion maʼlumotlar bazasi.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Multi-Tenancy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Har bir korxona uchun alohida subdomen (korxona.sapar.uz) va toʻliq maʼlumotlar izolyatsiyasi.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AES-256 Shifrlash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Parollar va maʼlumotlarni bank darajasida xavfsiz shifrlab saqlash.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Oʻzbekiston OʻRQ-547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Barcha maʼlumotlar Oʻzbekiston hududidagi maʼlumotlar markazida saqlanadi.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TARIFLAR VA OʻRNATISH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Hamyonbop va Moslashuvchan Biznes Modeli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STARTUP ($15 / oy)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3 tagacha foydalanuvchi</a:t>
            </a:r>
            <a:br/>
            <a:r>
              <a:t>• 1 ta ombor va Hisob-fakturalar</a:t>
            </a:r>
            <a:br/>
            <a:r>
              <a:t>• Didox va E-IMZO integratsiyasi</a:t>
            </a:r>
            <a:br/>
            <a:r>
              <a:t>• Kichik doʻkonlar va savdo korxonalari uchun.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BUSINESS ($35 / oy)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10 tagacha foydalanuvchi</a:t>
            </a:r>
            <a:br/>
            <a:r>
              <a:t>• 21-BHMS Buxgalteriya va 1/2-Shakl</a:t>
            </a:r>
            <a:br/>
            <a:r>
              <a:t>• Sensorli POS Kassa va Smenalar</a:t>
            </a:r>
            <a:br/>
            <a:r>
              <a:t>• Oʻrta biznes va ulgurji savdo korxonalari.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ENTERPRISE ($80 / oy)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Cheksiz foydalanuvchilar</a:t>
            </a:r>
            <a:br/>
            <a:r>
              <a:t>• On-Premises Docker oʻrnatish</a:t>
            </a:r>
            <a:br/>
            <a:r>
              <a:t>• 24/7 Shaxsiy qoʻllab-quvvatlash</a:t>
            </a:r>
            <a:br/>
            <a:r>
              <a:t>• Yirik korxonalar va maxsus serverlar.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BIZNING JAMOA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Kuchli va Tajribali Mutaxassislar Jamoasi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Dostonbek &amp; Hammuassislar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Bosh Ijrochi Direktor (CEO &amp; Founder)</a:t>
            </a:r>
            <a:br/>
            <a:r>
              <a:t>SaaS strategiyasi, xalqaro tajriba, korporativ boshqaruv va ekotizim viziyasi.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Bosh Texnologik Arxitektor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Bosh Texnik Direktor (CTO &amp; Lead Architect)</a:t>
            </a:r>
            <a:br/>
            <a:r>
              <a:t>Yuqori yuklamali PostgreSQL, Node.js, microservices va bank darajasidagi xavfsizlik.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Bosh Auditor &amp; Moliyaviy Ekspert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Bosh Moliyachi (CFO &amp; Tax Lead)</a:t>
            </a:r>
            <a:br/>
            <a:r>
              <a:t>21-son BHMS, Soliq kodeksi, 1/2-shakllar va milliy soliq deklaratsiyalari mutaxassisi.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Fintech &amp; Bank Integratsiyasi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Fintech &amp; Bank API Lead</a:t>
            </a:r>
            <a:br/>
            <a:r>
              <a:t>Didox, E-IMZO, 1C:ClientBank va tijorat banklari skoring tizimlari boʻyicha muhandis.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Sunʼiy Intellekt Muhandisi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Head of AI &amp; OCR Extraction</a:t>
            </a:r>
            <a:br/>
            <a:r>
              <a:t>Cheklarni rasmga olib tanish (OCR), moliyaviy tahlil LLM modellari va algoritmik tahlil.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Joriy Qilish &amp; Mijozlar Xizmati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Head of Customer Success &amp; Support</a:t>
            </a:r>
            <a:br/>
            <a:r>
              <a:t>500+ korxonalarda ERP joriy qilish, xodimlarni oʻqitish va 24/7 tezkor texnik yordam.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par-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Biznesingizni SAPAR Bilan Boshqaring!</a:t>
            </a:r>
          </a:p>
          <a:p>
            <a:pPr algn="ctr">
              <a:spcBef>
                <a:spcPts val="600"/>
              </a:spcBef>
              <a:defRPr sz="1400">
                <a:solidFill>
                  <a:srgbClr val="38BDF8"/>
                </a:solidFill>
              </a:defRPr>
            </a:pPr>
            <a:r>
              <a:t>Eskirgan va qimmat dasturlardan xalos boʻling. Yagona oynada barcha korxona jarayonlarini avtomatlashtiring.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2C39A"/>
                </a:solidFill>
              </a:defRPr>
            </a:pPr>
            <a:r>
              <a:t>Rasmiy Veb-Sayt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https://sapar.uz</a:t>
            </a:r>
            <a:br/>
            <a:r>
              <a:t>Onlayn roʻyxatdan oʻtish va tariflar.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92608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Elektron Pochta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info@sapar.uz</a:t>
            </a:r>
            <a:br/>
            <a:r>
              <a:t>Korporativ soʻrovlar va hamkorlik.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926080"/>
            <a:ext cx="3291840" cy="2011680"/>
          </a:xfrm>
          <a:prstGeom prst="roundRect">
            <a:avLst/>
          </a:prstGeom>
          <a:solidFill>
            <a:srgbClr val="0B2B33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Manzil &amp; Aloqa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Toshkent shahri, IT Park Oʻzbekiston</a:t>
            </a:r>
            <a:br/>
            <a:r>
              <a:t>Jonli Demo: http://localhost:3000/admin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303520"/>
            <a:ext cx="5212080" cy="822960"/>
          </a:xfrm>
          <a:prstGeom prst="roundRect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71F24"/>
                </a:solidFill>
              </a:defRPr>
            </a:pPr>
            <a:r>
              <a:t>DEMONI SINAB KOʻRISH (http://localhost:3000/admin)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